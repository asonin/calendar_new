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Agentic Calendar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An Intelligent Planning Assistant</a:t>
            </a:r>
            <a:br/>
            <a:r>
              <a:t>with LLM-Powered Task Decomposition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3498DB"/>
                </a:solidFill>
              </a:defRPr>
            </a:pPr>
            <a:r>
              <a:t>• Traditional calendars only provide reminders, not actionable guidance</a:t>
            </a:r>
          </a:p>
          <a:p>
            <a:pPr>
              <a:spcAft>
                <a:spcPts val="1400"/>
              </a:spcAft>
              <a:defRPr sz="2200">
                <a:solidFill>
                  <a:srgbClr val="2C3E50"/>
                </a:solidFill>
              </a:defRPr>
            </a:pPr>
            <a:r>
              <a:t>• Users struggle to break down complex goals into manageable tasks</a:t>
            </a:r>
          </a:p>
          <a:p>
            <a:pPr>
              <a:spcAft>
                <a:spcPts val="1400"/>
              </a:spcAft>
              <a:defRPr sz="2200">
                <a:solidFill>
                  <a:srgbClr val="2C3E50"/>
                </a:solidFill>
              </a:defRPr>
            </a:pPr>
            <a:r>
              <a:t>• Finding relevant learning resources is time-consuming</a:t>
            </a:r>
          </a:p>
          <a:p>
            <a:pPr>
              <a:spcAft>
                <a:spcPts val="1400"/>
              </a:spcAft>
              <a:defRPr sz="2200">
                <a:solidFill>
                  <a:srgbClr val="2C3E50"/>
                </a:solidFill>
              </a:defRPr>
            </a:pPr>
            <a:r>
              <a:t>• Manual scheduling often ignores realistic time constraints</a:t>
            </a:r>
          </a:p>
          <a:p>
            <a:pPr>
              <a:spcAft>
                <a:spcPts val="1400"/>
              </a:spcAft>
              <a:defRPr sz="2200">
                <a:solidFill>
                  <a:srgbClr val="2C3E50"/>
                </a:solidFill>
              </a:defRPr>
            </a:pPr>
            <a:r>
              <a:t>• Gap between goal-setting and execution leads to abandoned plans</a:t>
            </a:r>
          </a:p>
          <a:p>
            <a:pPr>
              <a:spcAft>
                <a:spcPts val="1400"/>
              </a:spcAft>
              <a:defRPr sz="2200">
                <a:solidFill>
                  <a:srgbClr val="2C3E50"/>
                </a:solidFill>
              </a:defRPr>
            </a:pPr>
            <a:r>
              <a:t>• Need: An intelligent assistant that understands goals and creates actionable, scheduled plans with real resources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Purpose &amp;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17370"/>
            <a:ext cx="7863840" cy="4194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C3E50"/>
                </a:solidFill>
              </a:defRPr>
            </a:pPr>
            <a:r>
              <a:t>• Goal-Driven Planning: Understand user objectives, not just reminders</a:t>
            </a:r>
          </a:p>
          <a:p>
            <a:pPr>
              <a:spcAft>
                <a:spcPts val="1400"/>
              </a:spcAft>
              <a:defRPr sz="2200">
                <a:solidFill>
                  <a:srgbClr val="2C3E50"/>
                </a:solidFill>
              </a:defRPr>
            </a:pPr>
            <a:r>
              <a:t>• Intelligent Decomposition: Break complex goals into concrete tasks using LLM</a:t>
            </a:r>
          </a:p>
          <a:p>
            <a:pPr>
              <a:spcAft>
                <a:spcPts val="1400"/>
              </a:spcAft>
              <a:defRPr sz="2200">
                <a:solidFill>
                  <a:srgbClr val="2C3E50"/>
                </a:solidFill>
              </a:defRPr>
            </a:pPr>
            <a:r>
              <a:t>• Availability-Aware Scheduling: Respect user's time constraints</a:t>
            </a:r>
          </a:p>
          <a:p>
            <a:pPr>
              <a:spcAft>
                <a:spcPts val="1400"/>
              </a:spcAft>
              <a:defRPr sz="2200">
                <a:solidFill>
                  <a:srgbClr val="2C3E50"/>
                </a:solidFill>
              </a:defRPr>
            </a:pPr>
            <a:r>
              <a:t>• Seamless Integration: Export to Apple Calendar, Google Calendar, Outlook</a:t>
            </a:r>
          </a:p>
          <a:p>
            <a:pPr>
              <a:spcAft>
                <a:spcPts val="1400"/>
              </a:spcAft>
              <a:defRPr sz="2200">
                <a:solidFill>
                  <a:srgbClr val="2C3E50"/>
                </a:solidFill>
              </a:defRPr>
            </a:pPr>
            <a:r>
              <a:t>• HCI-Focused Design: Simple, intuitive interface following Nielsen's heuristics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1463040"/>
            <a:ext cx="2011680" cy="73152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1400" b="1">
                <a:solidFill>
                  <a:srgbClr val="FFFFFF"/>
                </a:solidFill>
              </a:defRPr>
            </a:pPr>
            <a:r>
              <a:t>Frontend (Streamlit)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743200"/>
            <a:ext cx="2011680" cy="73152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1400" b="1">
                <a:solidFill>
                  <a:srgbClr val="FFFFFF"/>
                </a:solidFill>
              </a:defRPr>
            </a:pPr>
            <a:r>
              <a:t>LLM Client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2743200"/>
            <a:ext cx="2011680" cy="73152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1400" b="1">
                <a:solidFill>
                  <a:srgbClr val="FFFFFF"/>
                </a:solidFill>
              </a:defRPr>
            </a:pPr>
            <a:r>
              <a:t>Planner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2743200"/>
            <a:ext cx="2011680" cy="73152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1400" b="1">
                <a:solidFill>
                  <a:srgbClr val="FFFFFF"/>
                </a:solidFill>
              </a:defRPr>
            </a:pPr>
            <a:r>
              <a:t>Web Search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206240"/>
            <a:ext cx="2011680" cy="73152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1400" b="1">
                <a:solidFill>
                  <a:srgbClr val="FFFFFF"/>
                </a:solidFill>
              </a:defRPr>
            </a:pPr>
            <a:r>
              <a:t>Storage (JSON)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4206240"/>
            <a:ext cx="2011680" cy="73152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  <a:defRPr sz="1400" b="1">
                <a:solidFill>
                  <a:srgbClr val="FFFFFF"/>
                </a:solidFill>
              </a:defRPr>
            </a:pPr>
            <a:r>
              <a:t>Calendar Export</a:t>
            </a:r>
          </a:p>
        </p:txBody>
      </p:sp>
      <p:sp>
        <p:nvSpPr>
          <p:cNvPr id="10" name="Cloud 9"/>
          <p:cNvSpPr/>
          <p:nvPr/>
        </p:nvSpPr>
        <p:spPr>
          <a:xfrm>
            <a:off x="6583680" y="2560320"/>
            <a:ext cx="1828800" cy="1097280"/>
          </a:xfrm>
          <a:prstGeom prst="cloud">
            <a:avLst/>
          </a:prstGeom>
          <a:solidFill>
            <a:srgbClr val="95A5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OpenAI/</a:t>
            </a:r>
            <a:br/>
            <a:r>
              <a:t>Anthropic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User Flow: 5-Step Process</a:t>
            </a:r>
          </a:p>
        </p:txBody>
      </p:sp>
      <p:sp>
        <p:nvSpPr>
          <p:cNvPr id="4" name="Oval 3"/>
          <p:cNvSpPr/>
          <p:nvPr/>
        </p:nvSpPr>
        <p:spPr>
          <a:xfrm>
            <a:off x="719455" y="2573020"/>
            <a:ext cx="731520" cy="73152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45135" y="3487420"/>
            <a:ext cx="1280160" cy="1645920"/>
          </a:xfrm>
          <a:prstGeom prst="roundRect">
            <a:avLst/>
          </a:prstGeom>
          <a:solidFill>
            <a:srgbClr val="ECF0F1"/>
          </a:solidFill>
          <a:ln w="381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5135" y="3578860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498DB"/>
                </a:solidFill>
              </a:defRPr>
            </a:pPr>
            <a:r>
              <a:t>1. 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5135" y="403606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C3E50"/>
                </a:solidFill>
              </a:defRPr>
            </a:pPr>
            <a:r>
              <a:t>Enter goal via</a:t>
            </a:r>
            <a:br/>
            <a:r>
              <a:t>text/link/image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816735" y="4127500"/>
            <a:ext cx="457200" cy="274320"/>
          </a:xfrm>
          <a:prstGeom prst="rightArrow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456815" y="2573020"/>
            <a:ext cx="731520" cy="73152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182495" y="3487420"/>
            <a:ext cx="1280160" cy="1645920"/>
          </a:xfrm>
          <a:prstGeom prst="roundRect">
            <a:avLst/>
          </a:prstGeom>
          <a:solidFill>
            <a:srgbClr val="ECF0F1"/>
          </a:solidFill>
          <a:ln w="381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82495" y="3578860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B59B6"/>
                </a:solidFill>
              </a:defRPr>
            </a:pPr>
            <a:r>
              <a:t>2.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82495" y="403606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C3E50"/>
                </a:solidFill>
              </a:defRPr>
            </a:pPr>
            <a:r>
              <a:t>LLM understands</a:t>
            </a:r>
            <a:br/>
            <a:r>
              <a:t>and decomposes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554095" y="4127500"/>
            <a:ext cx="457200" cy="274320"/>
          </a:xfrm>
          <a:prstGeom prst="rightArrow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94175" y="2573020"/>
            <a:ext cx="731520" cy="73152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919855" y="3487420"/>
            <a:ext cx="1280160" cy="1645920"/>
          </a:xfrm>
          <a:prstGeom prst="roundRect">
            <a:avLst/>
          </a:prstGeom>
          <a:solidFill>
            <a:srgbClr val="ECF0F1"/>
          </a:solidFill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19855" y="3578860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ECC71"/>
                </a:solidFill>
              </a:defRPr>
            </a:pPr>
            <a:r>
              <a:t>3. 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19855" y="403606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C3E50"/>
                </a:solidFill>
              </a:defRPr>
            </a:pPr>
            <a:r>
              <a:t>Edit tasks</a:t>
            </a:r>
            <a:br/>
            <a:r>
              <a:t>and resources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291455" y="4127500"/>
            <a:ext cx="457200" cy="274320"/>
          </a:xfrm>
          <a:prstGeom prst="rightArrow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931534" y="2573020"/>
            <a:ext cx="731520" cy="731520"/>
          </a:xfrm>
          <a:prstGeom prst="ellipse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657214" y="3487420"/>
            <a:ext cx="1280160" cy="1645920"/>
          </a:xfrm>
          <a:prstGeom prst="roundRect">
            <a:avLst/>
          </a:prstGeom>
          <a:solidFill>
            <a:srgbClr val="ECF0F1"/>
          </a:solidFill>
          <a:ln w="3810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57214" y="3578860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1C40F"/>
                </a:solidFill>
              </a:defRPr>
            </a:pPr>
            <a:r>
              <a:t>4. 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57214" y="403606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C3E50"/>
                </a:solidFill>
              </a:defRPr>
            </a:pPr>
            <a:r>
              <a:t>Set availability</a:t>
            </a:r>
            <a:br/>
            <a:r>
              <a:t>and generate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028814" y="4127500"/>
            <a:ext cx="457200" cy="274320"/>
          </a:xfrm>
          <a:prstGeom prst="rightArrow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668895" y="2573020"/>
            <a:ext cx="731520" cy="73152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94575" y="3487420"/>
            <a:ext cx="1280160" cy="1645920"/>
          </a:xfrm>
          <a:prstGeom prst="roundRect">
            <a:avLst/>
          </a:prstGeom>
          <a:solidFill>
            <a:srgbClr val="ECF0F1"/>
          </a:solidFill>
          <a:ln w="381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94575" y="3578860"/>
            <a:ext cx="1280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74C3C"/>
                </a:solidFill>
              </a:defRPr>
            </a:pPr>
            <a:r>
              <a:t>5. Export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94575" y="4036060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C3E50"/>
                </a:solidFill>
              </a:defRPr>
            </a:pPr>
            <a:r>
              <a:t>Download .ics</a:t>
            </a:r>
            <a:br/>
            <a:r>
              <a:t>for calendar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Design Principles (Nielsen's Heuristics)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C3E50"/>
                </a:solidFill>
              </a:defRPr>
            </a:pPr>
            <a:r>
              <a:t>• H1 - Visibility: Progress stepper shows current step clearly</a:t>
            </a:r>
          </a:p>
          <a:p>
            <a:pPr>
              <a:spcAft>
                <a:spcPts val="1400"/>
              </a:spcAft>
              <a:defRPr sz="2200">
                <a:solidFill>
                  <a:srgbClr val="2C3E50"/>
                </a:solidFill>
              </a:defRPr>
            </a:pPr>
            <a:r>
              <a:t>• H2 - Match Real World: Familiar calendar metaphors and icons</a:t>
            </a:r>
          </a:p>
          <a:p>
            <a:pPr>
              <a:spcAft>
                <a:spcPts val="1400"/>
              </a:spcAft>
              <a:defRPr sz="2200">
                <a:solidFill>
                  <a:srgbClr val="2C3E50"/>
                </a:solidFill>
              </a:defRPr>
            </a:pPr>
            <a:r>
              <a:t>• H3 - User Control: Cancel, go back, edit, regenerate at any step</a:t>
            </a:r>
          </a:p>
          <a:p>
            <a:pPr>
              <a:spcAft>
                <a:spcPts val="1400"/>
              </a:spcAft>
              <a:defRPr sz="2200">
                <a:solidFill>
                  <a:srgbClr val="2C3E50"/>
                </a:solidFill>
              </a:defRPr>
            </a:pPr>
            <a:r>
              <a:t>• H5 - Error Prevention: Input validation, confirmation dialogs</a:t>
            </a:r>
          </a:p>
          <a:p>
            <a:pPr>
              <a:spcAft>
                <a:spcPts val="1400"/>
              </a:spcAft>
              <a:defRPr sz="2200">
                <a:solidFill>
                  <a:srgbClr val="2C3E50"/>
                </a:solidFill>
              </a:defRPr>
            </a:pPr>
            <a:r>
              <a:t>• H6 - Recognition: Pre-filled examples, auto-complete suggestions</a:t>
            </a:r>
          </a:p>
          <a:p>
            <a:pPr>
              <a:spcAft>
                <a:spcPts val="1400"/>
              </a:spcAft>
              <a:defRPr sz="2200">
                <a:solidFill>
                  <a:srgbClr val="2C3E50"/>
                </a:solidFill>
              </a:defRPr>
            </a:pPr>
            <a:r>
              <a:t>• H10 - Help: In-app guidance, tooltips, and user manual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Code: LLM Task Decomposition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472565"/>
            <a:ext cx="8610600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C3E50"/>
                </a:solidFill>
              </a:defRPr>
            </a:pPr>
            <a:r>
              <a:t>The LLM generates tasks with search queries, then we fetch real resources </a:t>
            </a:r>
            <a:r>
              <a:rPr lang="en-US"/>
              <a:t>from the Internet.</a:t>
            </a:r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243840" y="2006600"/>
            <a:ext cx="8595360" cy="411480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6720" y="2189480"/>
            <a:ext cx="8229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urier New" panose="02070409020205090404"/>
              </a:defRPr>
            </a:pPr>
            <a:r>
              <a:t>def decompose_goal(self, goal_summary, deadline):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urier New" panose="02070409020205090404"/>
              </a:defRPr>
            </a:pPr>
            <a:r>
              <a:t>    """Break down goal into tasks with search queries."""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urier New" panose="02070409020205090404"/>
              </a:defRPr>
            </a:pPr>
            <a:r>
              <a:t>    prompt = TASK_DECOMPOSITION_PROMPT.format(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urier New" panose="02070409020205090404"/>
              </a:defRPr>
            </a:pPr>
            <a:r>
              <a:t>        goal_summary=goal_summary,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urier New" panose="02070409020205090404"/>
              </a:defRPr>
            </a:pPr>
            <a:r>
              <a:t>        deadline=deadline,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urier New" panose="02070409020205090404"/>
              </a:defRPr>
            </a:pPr>
            <a:r>
              <a:t>        today=datetime.now()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urier New" panose="02070409020205090404"/>
              </a:defRPr>
            </a:pPr>
            <a:r>
              <a:t>    )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urier New" panose="02070409020205090404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urier New" panose="02070409020205090404"/>
              </a:defRPr>
            </a:pPr>
            <a:r>
              <a:t>    # Get tasks from LLM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urier New" panose="02070409020205090404"/>
              </a:defRPr>
            </a:pPr>
            <a:r>
              <a:t>    tasks = self._call_llm(prompt)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urier New" panose="02070409020205090404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urier New" panose="02070409020205090404"/>
              </a:defRPr>
            </a:pPr>
            <a:r>
              <a:t>    # Search real resources for each task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urier New" panose="02070409020205090404"/>
              </a:defRPr>
            </a:pPr>
            <a:r>
              <a:t>    resource_results = search_resources_parallel(tasks)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urier New" panose="02070409020205090404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urier New" panose="02070409020205090404"/>
              </a:defRPr>
            </a:pPr>
            <a:r>
              <a:t>    for idx, task in enumerate(tasks):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urier New" panose="02070409020205090404"/>
              </a:defRPr>
            </a:pPr>
            <a:r>
              <a:t>        task["resources"] = resource_results.get(idx, [])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urier New" panose="02070409020205090404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urier New" panose="02070409020205090404"/>
              </a:defRPr>
            </a:pPr>
            <a:r>
              <a:t>    return tasks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Demo: Goal Input &amp; Analysis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rcRect t="24350"/>
          <a:stretch>
            <a:fillRect/>
          </a:stretch>
        </p:blipFill>
        <p:spPr>
          <a:xfrm>
            <a:off x="0" y="1693545"/>
            <a:ext cx="9144000" cy="44919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Demo: Task Review &amp; Resources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4389120"/>
          </a:xfrm>
          <a:prstGeom prst="roundRect">
            <a:avLst/>
          </a:prstGeom>
          <a:solidFill>
            <a:srgbClr val="ECF0F1"/>
          </a:solidFill>
          <a:ln w="25400">
            <a:solidFill>
              <a:srgbClr val="BDC3C7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95A5A6"/>
                </a:solidFill>
              </a:defRPr>
            </a:pPr>
            <a:r>
              <a:t>📷 INSERT SCREENSHOT HERE</a:t>
            </a:r>
          </a:p>
          <a:p>
            <a:pPr algn="ctr">
              <a:defRPr sz="1400">
                <a:solidFill>
                  <a:srgbClr val="95A5A6"/>
                </a:solidFill>
              </a:defRPr>
            </a:pPr>
            <a:r>
              <a:t>Take a screenshot showing tasks with YouTube/web resources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67965"/>
            <a:ext cx="7863840" cy="250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C3E50"/>
                </a:solidFill>
              </a:defRPr>
            </a:pPr>
            <a:r>
              <a:t>• Progress tracking and task completion monitoring</a:t>
            </a:r>
          </a:p>
          <a:p>
            <a:pPr>
              <a:spcAft>
                <a:spcPts val="1400"/>
              </a:spcAft>
              <a:defRPr sz="2200">
                <a:solidFill>
                  <a:srgbClr val="2C3E50"/>
                </a:solidFill>
              </a:defRPr>
            </a:pPr>
            <a:r>
              <a:t>• Collaborative planning for team projects</a:t>
            </a:r>
          </a:p>
          <a:p>
            <a:pPr>
              <a:spcAft>
                <a:spcPts val="1400"/>
              </a:spcAft>
              <a:defRPr sz="2200">
                <a:solidFill>
                  <a:srgbClr val="2C3E50"/>
                </a:solidFill>
              </a:defRPr>
            </a:pPr>
            <a:r>
              <a:t>• Smart rescheduling when tasks are missed or delayed</a:t>
            </a:r>
          </a:p>
          <a:p>
            <a:pPr>
              <a:spcAft>
                <a:spcPts val="1400"/>
              </a:spcAft>
              <a:defRPr sz="2200">
                <a:solidFill>
                  <a:srgbClr val="2C3E50"/>
                </a:solidFill>
              </a:defRPr>
            </a:pPr>
            <a:r>
              <a:t>• Mobile app version for iOS and Android</a:t>
            </a:r>
          </a:p>
          <a:p>
            <a:pPr>
              <a:spcAft>
                <a:spcPts val="1400"/>
              </a:spcAft>
              <a:defRPr sz="2200">
                <a:solidFill>
                  <a:srgbClr val="2C3E50"/>
                </a:solidFill>
              </a:defRPr>
            </a:pPr>
            <a:r>
              <a:t>• Learning path recommendations based on user history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2665</Words>
  <Application>WPS Presentation</Application>
  <PresentationFormat>On-screen Show (4:3)</PresentationFormat>
  <Paragraphs>106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Arial</vt:lpstr>
      <vt:lpstr>SimSun</vt:lpstr>
      <vt:lpstr>Wingdings</vt:lpstr>
      <vt:lpstr>Arial</vt:lpstr>
      <vt:lpstr>Courier New</vt:lpstr>
      <vt:lpstr>Calibri</vt:lpstr>
      <vt:lpstr>Helvetica Neue</vt:lpstr>
      <vt:lpstr>Microsoft YaHei</vt:lpstr>
      <vt:lpstr>汉仪旗黑</vt:lpstr>
      <vt:lpstr>Arial Unicode MS</vt:lpstr>
      <vt:lpstr>宋体-简</vt:lpstr>
      <vt:lpstr>Apple Color Emoji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jasonqin</cp:lastModifiedBy>
  <cp:revision>9</cp:revision>
  <dcterms:created xsi:type="dcterms:W3CDTF">2025-12-03T19:11:49Z</dcterms:created>
  <dcterms:modified xsi:type="dcterms:W3CDTF">2025-12-03T19:11:49Z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78C6E69D7EC038546E74306954DC6D2F_42</vt:lpwstr>
  </property>
  <property fmtid="{D5CDD505-2E9C-101B-9397-08002B2CF9AE}" pid="3" name="KSOProductBuildVer">
    <vt:lpwstr>1033-12.1.23152.23152</vt:lpwstr>
  </property>
</Properties>
</file>